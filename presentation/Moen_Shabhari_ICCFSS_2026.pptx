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  <p:sldId id="257" r:id="rId2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FA8"/>
    <a:srgbClr val="0874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E65A98-162B-8C57-FE02-DA3D907907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B1123D-8EC0-C1B6-1160-62DCCDDF36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384AB1-3452-41D5-9BBB-3BAEF5AB899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5890DC-3367-3871-674B-93E268EAEE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6C46A-80E2-A4DD-469C-F4591D68FD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2B38A-BC81-482C-BCA7-19C20F102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061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38FF9F-1BF5-4123-9A23-02921708A831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12069-9100-411E-9588-33644A5F9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437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08DAE-CFEE-99C4-44A6-5A694DAA2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8131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78F74-762E-9C27-82FD-5A8E77495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87806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887CD-A8EA-B243-A004-166ECEDEE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pic>
        <p:nvPicPr>
          <p:cNvPr id="8" name="Picture 7" descr="Cold-Formed Steel&#10;&#10;AI-generated content may be incorrect.">
            <a:extLst>
              <a:ext uri="{FF2B5EF4-FFF2-40B4-BE49-F238E27FC236}">
                <a16:creationId xmlns:a16="http://schemas.microsoft.com/office/drawing/2014/main" id="{73B50397-621F-0A90-DDDB-C8ABA2C91B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53" y="85726"/>
            <a:ext cx="7693247" cy="136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093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6A81D-B27B-00BB-8666-8ABDB94A5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EA328-B6E2-56B9-C925-8132D1E99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52D08-6AAB-B37D-B3F2-C4A567DE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AF7D3-2F37-B875-3792-6E81FD069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931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7BAA8-D549-DA15-3960-CB6601BF7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0FF8C-757E-8682-94BF-3B2E95C1C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F156A-AEEA-994F-6B7D-E514FA0CA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pic>
        <p:nvPicPr>
          <p:cNvPr id="8" name="Picture 7" descr="Cold-Formed Steel&#10;&#10;AI-generated content may be incorrect.">
            <a:extLst>
              <a:ext uri="{FF2B5EF4-FFF2-40B4-BE49-F238E27FC236}">
                <a16:creationId xmlns:a16="http://schemas.microsoft.com/office/drawing/2014/main" id="{E6DC0FBD-8622-85E9-79F2-EE1DFD1A40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00"/>
          <a:stretch>
            <a:fillRect/>
          </a:stretch>
        </p:blipFill>
        <p:spPr>
          <a:xfrm>
            <a:off x="193454" y="6174371"/>
            <a:ext cx="638396" cy="62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76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0E79E-DD42-8033-0422-E2404A77F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57DFA-DA34-2F5A-BEFB-8DB21AA185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DE6C8-AB43-D605-EE47-D04BD18AE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11DAE-CA84-A9DC-73DC-35055A63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6E5FF-65DC-3E65-FAF8-0583EC19B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76784-F3C3-0D34-D4B3-03B01CA6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125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4B238-E20E-C0D9-CF85-0A23E79DE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2424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94CD5-61B6-DF3D-79DF-9ED69121D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46B3D-A775-B72C-B19C-CE664C515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BC9E5F-D4B0-F22E-D068-4899346C3F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8A1DB9-7B13-3618-3D24-B6148E7748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25EE39-1B24-1477-0254-C1D40106C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A37AF6-C444-5728-4EF5-B8DC15DF4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C45EE5-F724-6E7D-4D1B-172674732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477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342EF-52C4-965D-D31E-3AC046CA1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A16EB1-25B9-5DE5-A0CA-28C3A72C2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A12E69-6A8C-9811-0F84-907E444C3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9CCAC9-C194-3672-CFBF-AADCF3F0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69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96204F-971A-A858-39B9-BFEA1ECF3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0C762C-A5BB-74F4-8F07-56FF6700B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E6A67-9D15-A684-0785-5C2C46DD5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3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7A99B-CDAC-F97B-6661-A0D86AD81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150E7-70B9-8C06-F075-C531C9A57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046BC-305D-DFFF-CC88-2E5EDE518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9F122-7A63-C1BF-101A-AECE3FCF5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C06BD-F27B-1E43-5781-4CBDBBBA9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BD21A-05B9-B90D-C33C-8A3D7460E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86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A85F8-AAA6-4BFE-F641-4DDC7AEE0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87D4A3-6A64-8AA7-E02E-EF0568DFA3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40308" y="1307306"/>
            <a:ext cx="5824651" cy="45537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243B3-6413-8765-F2D9-0BB975133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72A27-C22B-275C-A52D-0A17EF877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469A3-9FDF-4A76-0D92-BF5D0A021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988D1-F4E1-6F2B-A826-62CE68199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293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08C19-62B4-5FB4-78E7-5AE04EC68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3BA005-18D7-C0BB-6886-EA78ACA6A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52303-05A2-5C22-541A-A56644D4E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9246B-5265-8668-CCF9-2A97D0310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6E939-34D8-14EC-B8B7-1A47D6E91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852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8FF84B-41D3-5F49-9C4A-ED19DAB363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E7121-D71A-2DA6-F17A-B09E48271D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F9895-0F1B-5962-6075-4A823CF23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4FA8A-C72B-5D45-5AA2-E833D6E11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9A72B-9065-DC28-86A8-C3EA612B2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576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9476D2-BFAB-9135-5836-EAD5441F8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BF91F-AA9B-C34D-6D98-1780DFE33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413C0-59C8-A5AA-76AB-324794077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October 6-7,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28459-E482-B65C-5325-4996C291E3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A16FD-DAE2-40DB-93E0-E6B4CFE92310}" type="slidenum">
              <a:rPr lang="en-US" smtClean="0"/>
              <a:pPr/>
              <a:t>‹#›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8322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solidFill>
                  <a:srgbClr val="0E2841"/>
                </a:solidFill>
              </a:rPr>
              <a:t>Elastic buckling analysis of a cold-formed steel stud column with open-source shell finite element software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0" sz="2200">
                <a:solidFill>
                  <a:srgbClr val="0E2841"/>
                </a:solidFill>
              </a:rPr>
              <a:t>Cristopher D. Moen and Amoke Shabhari</a:t>
            </a:r>
          </a:p>
          <a:p>
            <a:r>
              <a:rPr b="0" sz="1800">
                <a:solidFill>
                  <a:srgbClr val="4B5666"/>
                </a:solidFill>
              </a:rPr>
              <a:t>RunToSolve LLC</a:t>
            </a:r>
          </a:p>
          <a:p>
            <a:r>
              <a:rPr b="0" sz="1400">
                <a:solidFill>
                  <a:srgbClr val="4B5666"/>
                </a:solidFill>
              </a:rPr>
              <a:t>Wei-Wen Yu International Specialty Conference on Cold-Formed Steel Structures, Madison, Wisconsin</a:t>
            </a:r>
          </a:p>
        </p:txBody>
      </p:sp>
      <p:pic>
        <p:nvPicPr>
          <p:cNvPr id="4" name="Picture 3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512064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900">
                <a:solidFill>
                  <a:srgbClr val="4B5666"/>
                </a:solidFill>
              </a:rPr>
              <a:t>runtosolve.github.io/ICCFSS2026_MoenShabhariStudElasticBuckling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887CD-A8EA-B243-A004-166ECEDEE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October 6–7,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E2841"/>
                </a:solidFill>
              </a:rPr>
              <a:t>Shell finite element analysis, in the open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b="0" sz="1800"/>
              <a:t>Few modern shell implementations are available for public inspection, and what commercial codes do under the hood is hard to know</a:t>
            </a:r>
          </a:p>
          <a:p>
            <a:pPr>
              <a:spcAft>
                <a:spcPts val="400"/>
              </a:spcAft>
            </a:pPr>
            <a:r>
              <a:rPr b="0" sz="1800"/>
              <a:t>A multi-year effort built a trusted, open-source shell capability in </a:t>
            </a:r>
            <a:r>
              <a:rPr b="1" sz="1800"/>
              <a:t>Julia</a:t>
            </a:r>
            <a:r>
              <a:rPr b="0" sz="1800"/>
              <a:t>, connected to the general-purpose finite element framework </a:t>
            </a:r>
            <a:r>
              <a:rPr b="1" sz="1800"/>
              <a:t>Ferrite.jl</a:t>
            </a:r>
          </a:p>
          <a:p>
            <a:pPr>
              <a:spcAft>
                <a:spcPts val="400"/>
              </a:spcAft>
            </a:pPr>
            <a:r>
              <a:rPr b="0" sz="1800"/>
              <a:t>Two Mindlin shell elements are now published as packages with elastic and geometric stiffness matrices</a:t>
            </a:r>
          </a:p>
          <a:p>
            <a:pPr lvl="1">
              <a:spcAft>
                <a:spcPts val="200"/>
              </a:spcAft>
            </a:pPr>
            <a:r>
              <a:rPr b="1" sz="1500"/>
              <a:t>TriShellFiniteElement.jl</a:t>
            </a:r>
            <a:r>
              <a:rPr b="0" sz="1500"/>
              <a:t>, a 3-node triangle</a:t>
            </a:r>
          </a:p>
          <a:p>
            <a:pPr lvl="1">
              <a:spcAft>
                <a:spcPts val="200"/>
              </a:spcAft>
            </a:pPr>
            <a:r>
              <a:rPr b="1" sz="1500"/>
              <a:t>QuadShellFiniteElement.jl</a:t>
            </a:r>
            <a:r>
              <a:rPr b="0" sz="1500"/>
              <a:t>, a "4+2" quadrilateral</a:t>
            </a:r>
          </a:p>
          <a:p>
            <a:pPr>
              <a:spcAft>
                <a:spcPts val="400"/>
              </a:spcAft>
            </a:pPr>
            <a:r>
              <a:rPr b="0" sz="1800"/>
              <a:t>This talk walks through one eigenbuckling analysis of a common wall stud with holes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200">
                <a:solidFill>
                  <a:srgbClr val="4B5666"/>
                </a:solidFill>
              </a:rPr>
              <a:t>Thanks to Sándor Ádány for the shell element formulations and MATLAB reference implementations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52D08-6AAB-B37D-B3F2-C4A567DE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October 6–7,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AF7D3-2F37-B875-3792-6E81FD069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E2841"/>
                </a:solidFill>
              </a:rPr>
              <a:t>Two flat Mindlin shells, six degrees of freedom per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838200" y="1825625"/>
            <a:ext cx="5181600" cy="3566160"/>
          </a:xfrm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b="1" sz="1800"/>
              <a:t>Triangle, TriShellFiniteElement.jl</a:t>
            </a:r>
          </a:p>
          <a:p>
            <a:pPr lvl="1">
              <a:spcAft>
                <a:spcPts val="200"/>
              </a:spcAft>
            </a:pPr>
            <a:r>
              <a:rPr b="0" sz="1500"/>
              <a:t>Constant-strain membrane; Mindlin bending with the Tessler–Hughes shear treatment (mid-side deflections condensed out)</a:t>
            </a:r>
          </a:p>
          <a:p>
            <a:pPr lvl="1">
              <a:spcAft>
                <a:spcPts val="200"/>
              </a:spcAft>
            </a:pPr>
            <a:r>
              <a:rPr b="0" sz="1500"/>
              <a:t>Shear relaxation 1/(1 + Cs α), Cs = 0.2, calibrated so a simply supported plate converges to k = 4.0</a:t>
            </a:r>
          </a:p>
          <a:p>
            <a:pPr lvl="1">
              <a:spcAft>
                <a:spcPts val="200"/>
              </a:spcAft>
            </a:pPr>
            <a:r>
              <a:rPr b="0" sz="1500"/>
              <a:t>Hughes–Brezzi drilling stiffness, so folded plates assemble without singular matrices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3566160"/>
          </a:xfrm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b="1" sz="1800"/>
              <a:t>Quadrilateral, QuadShellFiniteElement.jl</a:t>
            </a:r>
          </a:p>
          <a:p>
            <a:pPr lvl="1">
              <a:spcAft>
                <a:spcPts val="200"/>
              </a:spcAft>
            </a:pPr>
            <a:r>
              <a:rPr b="0" sz="1500"/>
              <a:t>The "4+2" element of Moen and Ádány: bilinear shape functions plus two bubble functions, condensed at the element level, which relieves in-plane bending stiffness and part of the shear locking</a:t>
            </a:r>
          </a:p>
          <a:p>
            <a:pPr lvl="1">
              <a:spcAft>
                <a:spcPts val="200"/>
              </a:spcAft>
            </a:pPr>
            <a:r>
              <a:rPr b="0" sz="1500"/>
              <a:t>Same shear relaxation (Cs = 0.1) and drilling term</a:t>
            </a:r>
          </a:p>
          <a:p>
            <a:pPr lvl="1">
              <a:spcAft>
                <a:spcPts val="200"/>
              </a:spcAft>
            </a:pPr>
            <a:r>
              <a:rPr b="0" sz="1500"/>
              <a:t>Julia matrices reproduce the MATLAB reference to machine precision (a package test)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600"/>
              <a:t>•  Geometric stiffness from the Green–Lagrange membrane strains (Nx, Ny, Nxy and the gradients of all three translations)</a:t>
            </a:r>
          </a:p>
          <a:p>
            <a:pPr>
              <a:spcAft>
                <a:spcPts val="400"/>
              </a:spcAft>
            </a:pPr>
            <a:r>
              <a:rPr b="0" sz="1600"/>
              <a:t>•  K φ = λ (−Kg) φ, and with a unit reference load the eigenvalue is the buckling load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11DAE-CA84-A9DC-73DC-35055A63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October 6–7,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76784-F3C3-0D34-D4B3-03B01CA6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E2841"/>
                </a:solidFill>
              </a:rPr>
              <a:t>A 362S162-33 wall stud with SFIA service holes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838200" y="1825625"/>
            <a:ext cx="5181600" cy="2377440"/>
          </a:xfrm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b="0" sz="1600"/>
              <a:t>Web 3.625 in, flange 1.625 in, lip 0.5 in, design thickness </a:t>
            </a:r>
            <a:r>
              <a:rPr b="1" sz="1600"/>
              <a:t>0.0346 in</a:t>
            </a:r>
            <a:r>
              <a:rPr b="0" sz="1600"/>
              <a:t>; E = 29 500 ksi, ν = 0.3</a:t>
            </a:r>
          </a:p>
          <a:p>
            <a:pPr>
              <a:spcAft>
                <a:spcPts val="400"/>
              </a:spcAft>
            </a:pPr>
            <a:r>
              <a:rPr b="0" sz="1600"/>
              <a:t>Braced at midheight: Lx = Ly = Lt = 48 in; pinned, warping-free ends; uniform compression, Pref = 1 N</a:t>
            </a:r>
          </a:p>
          <a:p>
            <a:pPr>
              <a:spcAft>
                <a:spcPts val="400"/>
              </a:spcAft>
            </a:pPr>
            <a:r>
              <a:rPr b="0" sz="1600"/>
              <a:t>Four 1.5 × 4 in stadium-shaped holes at 12, 36, 60, and 84 in (24 in o.c.); the brace point is 12 in from the nearest holes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2377440"/>
          </a:xfrm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b="0" sz="1600"/>
              <a:t>Centerline polyline from CrossSectionGeometry.jl: 85 nodes, corner radius 2t, 4 elements per lip, 20 per flange and web, 4 per corner arc</a:t>
            </a:r>
          </a:p>
          <a:p>
            <a:pPr>
              <a:spcAft>
                <a:spcPts val="400"/>
              </a:spcAft>
            </a:pPr>
            <a:r>
              <a:rPr b="0" sz="1600"/>
              <a:t>The same polyline goes to CUFSM.jl, so the shell and finite strip analyses share their geometry</a:t>
            </a:r>
          </a:p>
        </p:txBody>
      </p:sp>
      <p:pic>
        <p:nvPicPr>
          <p:cNvPr id="5" name="Picture 4" descr="fig_mesh_h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144" y="3977639"/>
            <a:ext cx="7571232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12647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4B5666"/>
                </a:solidFill>
              </a:rPr>
              <a:t>(a) 85-node centerline polyline; (b) web mesh around a hole: structured quadrilaterals outside the 150 mm patch, triangles inside it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11DAE-CA84-A9DC-73DC-35055A63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October 6–7,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76784-F3C3-0D34-D4B3-03B01CA6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E2841"/>
                </a:solidFill>
              </a:rPr>
              <a:t>Degrees of freedom, boundary conditions, brace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b="0" sz="1600"/>
              <a:t>Ends: ux = uy = 0 at every end node, uz and all rotations free</a:t>
            </a:r>
          </a:p>
          <a:p>
            <a:pPr>
              <a:spcAft>
                <a:spcPts val="400"/>
              </a:spcAft>
            </a:pPr>
            <a:r>
              <a:rPr b="0" sz="1600"/>
              <a:t>Load: equal and opposite axial nodal forces by tributary centerline length, giving uniform P/A away from ends and holes</a:t>
            </a:r>
          </a:p>
          <a:p>
            <a:pPr>
              <a:spcAft>
                <a:spcPts val="400"/>
              </a:spcAft>
            </a:pPr>
            <a:r>
              <a:rPr b="0" sz="1600"/>
              <a:t>Brace: ux = 0 at the two </a:t>
            </a:r>
            <a:r>
              <a:rPr b="1" sz="1600"/>
              <a:t>web-flange corners</a:t>
            </a:r>
            <a:r>
              <a:rPr b="0" sz="1600"/>
              <a:t> (translation perpendicular to the web and twist), uy = 0 and the axial datum uz = 0 at the web mid-depth node on the symmetry axis, so no prebuckling stress is induced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825625"/>
            <a:ext cx="5181600" cy="2103120"/>
          </a:xfrm>
          <a:prstGeom prst="rect">
            <a:avLst/>
          </a:prstGeom>
          <a:solidFill>
            <a:srgbClr val="EEF1F5"/>
          </a:solidFill>
          <a:ln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73152"/>
          <a:lstStyle/>
          <a:p>
            <a:pPr algn="ctr">
              <a:spcAft>
                <a:spcPts val="400"/>
              </a:spcAft>
            </a:pPr>
            <a:r>
              <a:rPr b="1" sz="1200">
                <a:solidFill>
                  <a:srgbClr val="0E2841"/>
                </a:solidFill>
              </a:rPr>
              <a:t>Two element types, one DofHandler (patch-boundary nodes share dofs)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dh = DofHandler(grid)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sq = SubDofHandler(dh, quad_cells)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ipq = Lagrange{RefQuadrilateral, 1}()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add!(sq, :u, ipq^3); add!(sq, :θ, ipq^3)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st = SubDofHandler(dh, tri_cells)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ipt = Lagrange{RefTriangle, 1}()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add!(st, :u, ipt^3); add!(st, :θ, ipt^3)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close!(dh)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4111625"/>
            <a:ext cx="5181600" cy="2194560"/>
          </a:xfrm>
          <a:prstGeom prst="rect">
            <a:avLst/>
          </a:prstGeom>
          <a:solidFill>
            <a:srgbClr val="EEF1F5"/>
          </a:solidFill>
          <a:ln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73152"/>
          <a:lstStyle/>
          <a:p>
            <a:pPr algn="ctr">
              <a:spcAft>
                <a:spcPts val="400"/>
              </a:spcAft>
            </a:pPr>
            <a:r>
              <a:rPr b="1" sz="1200">
                <a:solidFill>
                  <a:srgbClr val="0E2841"/>
                </a:solidFill>
              </a:rPr>
              <a:t>Pinned warping-free ends and the midheight brace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ch = ConstraintHandler(dh)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add!(ch, Dirichlet(:u, end_nodes,              # ux = uy = 0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         (x, t) -&gt; [0.0, 0.0], [1, 2]))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add!(ch, Dirichlet(:u, brace_corner_nodes,     # ux = 0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         (x, t) -&gt; [0.0], [1]))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add!(ch, Dirichlet(:u, Set([brace_web_center]), # uy = uz = 0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         (x, t) -&gt; [0.0, 0.0], [2, 3]))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close!(ch)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11DAE-CA84-A9DC-73DC-35055A63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October 6–7,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76784-F3C3-0D34-D4B3-03B01CA6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E2841"/>
                </a:solidFill>
              </a:rPr>
              <a:t>Pre-buckling stresses and geometric stiffness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825625"/>
            <a:ext cx="5181600" cy="2286000"/>
          </a:xfrm>
          <a:prstGeom prst="rect">
            <a:avLst/>
          </a:prstGeom>
          <a:solidFill>
            <a:srgbClr val="EEF1F5"/>
          </a:solidFill>
          <a:ln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73152"/>
          <a:lstStyle/>
          <a:p>
            <a:pPr algn="ctr">
              <a:spcAft>
                <a:spcPts val="400"/>
              </a:spcAft>
            </a:pPr>
            <a:r>
              <a:rPr b="1" sz="1100">
                <a:solidFill>
                  <a:srgbClr val="0E2841"/>
                </a:solidFill>
              </a:rPr>
              <a:t>One call per package, summed</a:t>
            </a:r>
          </a:p>
          <a:p>
            <a:pPr>
              <a:spcAft>
                <a:spcPts val="0"/>
              </a:spcAft>
            </a:pPr>
            <a:r>
              <a:rPr b="0" sz="1000">
                <a:solidFill>
                  <a:srgbClr val="2B3648"/>
                </a:solidFill>
                <a:latin typeface="Consolas"/>
              </a:rPr>
              <a:t>Kq = QuadShellFiniteElement.assemble_global_Ke!(</a:t>
            </a:r>
          </a:p>
          <a:p>
            <a:pPr>
              <a:spcAft>
                <a:spcPts val="0"/>
              </a:spcAft>
            </a:pPr>
            <a:r>
              <a:rPr b="0" sz="1000">
                <a:solidFill>
                  <a:srgbClr val="2B3648"/>
                </a:solidFill>
                <a:latin typeface="Consolas"/>
              </a:rPr>
              <a:t>         allocate_matrix(dh, ch), sq, qr2, qr3,</a:t>
            </a:r>
          </a:p>
          <a:p>
            <a:pPr>
              <a:spcAft>
                <a:spcPts val="0"/>
              </a:spcAft>
            </a:pPr>
            <a:r>
              <a:rPr b="0" sz="1000">
                <a:solidFill>
                  <a:srgbClr val="2B3648"/>
                </a:solidFill>
                <a:latin typeface="Consolas"/>
              </a:rPr>
              <a:t>         IP4(), IP6(), E, ν, t; Cs = 0.1)</a:t>
            </a:r>
          </a:p>
          <a:p>
            <a:pPr>
              <a:spcAft>
                <a:spcPts val="0"/>
              </a:spcAft>
            </a:pPr>
            <a:r>
              <a:rPr b="0" sz="1000">
                <a:solidFill>
                  <a:srgbClr val="2B3648"/>
                </a:solidFill>
                <a:latin typeface="Consolas"/>
              </a:rPr>
              <a:t>Kt = TriShellFiniteElement.assemble_global_Ke!(</a:t>
            </a:r>
          </a:p>
          <a:p>
            <a:pPr>
              <a:spcAft>
                <a:spcPts val="0"/>
              </a:spcAft>
            </a:pPr>
            <a:r>
              <a:rPr b="0" sz="1000">
                <a:solidFill>
                  <a:srgbClr val="2B3648"/>
                </a:solidFill>
                <a:latin typeface="Consolas"/>
              </a:rPr>
              <a:t>         allocate_matrix(dh, ch), st, qr1, qr3,</a:t>
            </a:r>
          </a:p>
          <a:p>
            <a:pPr>
              <a:spcAft>
                <a:spcPts val="0"/>
              </a:spcAft>
            </a:pPr>
            <a:r>
              <a:rPr b="0" sz="1000">
                <a:solidFill>
                  <a:srgbClr val="2B3648"/>
                </a:solidFill>
                <a:latin typeface="Consolas"/>
              </a:rPr>
              <a:t>         IP3(), IP6(), E, ν, t; Cs = 0.2)</a:t>
            </a:r>
          </a:p>
          <a:p>
            <a:pPr>
              <a:spcAft>
                <a:spcPts val="0"/>
              </a:spcAft>
            </a:pPr>
            <a:r>
              <a:rPr b="0" sz="1000">
                <a:solidFill>
                  <a:srgbClr val="2B3648"/>
                </a:solidFill>
                <a:latin typeface="Consolas"/>
              </a:rPr>
              <a:t>K = Kq + Kt;  apply!(K, F, ch)</a:t>
            </a:r>
          </a:p>
          <a:p>
            <a:pPr>
              <a:spcAft>
                <a:spcPts val="0"/>
              </a:spcAft>
            </a:pPr>
            <a:r>
              <a:rPr b="0" sz="1000">
                <a:solidFill>
                  <a:srgbClr val="2B3648"/>
                </a:solidFill>
                <a:latin typeface="Consolas"/>
              </a:rPr>
              <a:t>u = K \ F;  apply!(u, ch)</a:t>
            </a:r>
          </a:p>
          <a:p>
            <a:pPr>
              <a:spcAft>
                <a:spcPts val="0"/>
              </a:spcAft>
            </a:pPr>
            <a:r>
              <a:rPr b="0" sz="1000">
                <a:solidFill>
                  <a:srgbClr val="2B3648"/>
                </a:solidFill>
                <a:latin typeface="Consolas"/>
              </a:rPr>
              <a:t>σ = membrane_stresses(dh, u, E, ν, t)  # element frame</a:t>
            </a:r>
          </a:p>
          <a:p>
            <a:pPr>
              <a:spcAft>
                <a:spcPts val="0"/>
              </a:spcAft>
            </a:pPr>
            <a:r>
              <a:rPr b="0" sz="1000">
                <a:solidFill>
                  <a:srgbClr val="2B3648"/>
                </a:solidFill>
                <a:latin typeface="Consolas"/>
              </a:rPr>
              <a:t>Kg = assemble_Kg(dh, ch, σ, t)         # summed, too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4294505"/>
            <a:ext cx="5181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500"/>
              <a:t>•  Static problem solved with Julia's sparse direct solver; membrane stresses recovered element by element (one per triangle, four Gauss points per quadrilateral)</a:t>
            </a:r>
          </a:p>
          <a:p>
            <a:pPr>
              <a:spcAft>
                <a:spcPts val="400"/>
              </a:spcAft>
            </a:pPr>
            <a:r>
              <a:rPr b="0" sz="1500"/>
              <a:t>•  Normalized by P/A: </a:t>
            </a:r>
            <a:r>
              <a:rPr b="1" sz="1500"/>
              <a:t>1.0</a:t>
            </a:r>
            <a:r>
              <a:rPr b="0" sz="1500"/>
              <a:t> in the bulk, about </a:t>
            </a:r>
            <a:r>
              <a:rPr b="1" sz="1500"/>
              <a:t>1.9</a:t>
            </a:r>
            <a:r>
              <a:rPr b="0" sz="1500"/>
              <a:t> in the web strips beside a hole, </a:t>
            </a:r>
            <a:r>
              <a:rPr b="1" sz="1500"/>
              <a:t>1.25</a:t>
            </a:r>
            <a:r>
              <a:rPr b="0" sz="1500"/>
              <a:t> in the flanges at the hole plane, </a:t>
            </a:r>
            <a:r>
              <a:rPr b="1" sz="1500"/>
              <a:t>0.5</a:t>
            </a:r>
            <a:r>
              <a:rPr b="0" sz="1500"/>
              <a:t> just above and below the hole</a:t>
            </a:r>
          </a:p>
        </p:txBody>
      </p:sp>
      <p:pic>
        <p:nvPicPr>
          <p:cNvPr id="5" name="Picture 4" descr="fig_stress_h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25625"/>
            <a:ext cx="5181600" cy="2467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72200" y="4338773"/>
            <a:ext cx="518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4B5666"/>
                </a:solidFill>
              </a:rPr>
              <a:t>Pre-buckling longitudinal membrane stress on the web face around a hole, normalized by P/A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11DAE-CA84-A9DC-73DC-35055A63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October 6–7,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76784-F3C3-0D34-D4B3-03B01CA6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E2841"/>
                </a:solidFill>
              </a:rPr>
              <a:t>Solving the eigenvalue problem with ARPACK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b="0" sz="1600"/>
              <a:t>Implicitly restarted Arnoldi on K⁻¹(−Kg): its largest eigenvalues are the reciprocals of the smallest buckling loads</a:t>
            </a:r>
          </a:p>
          <a:p>
            <a:pPr>
              <a:spcAft>
                <a:spcPts val="400"/>
              </a:spcAft>
            </a:pPr>
            <a:r>
              <a:rPr b="0" sz="1600"/>
              <a:t>A perforated member has </a:t>
            </a:r>
            <a:r>
              <a:rPr b="1" sz="1600"/>
              <a:t>hundreds of local modes</a:t>
            </a:r>
            <a:r>
              <a:rPr b="0" sz="1600"/>
              <a:t> below its distortional and global loads, so the bottom of the spectrum never reaches them</a:t>
            </a:r>
          </a:p>
          <a:p>
            <a:pPr>
              <a:spcAft>
                <a:spcPts val="400"/>
              </a:spcAft>
            </a:pPr>
            <a:r>
              <a:rPr b="0" sz="1600"/>
              <a:t>Shift-and-invert with targets from 14 to 60 kN, 40 modes per target, one indefinite factorization and about 20 s each</a:t>
            </a:r>
          </a:p>
          <a:p>
            <a:pPr>
              <a:spcAft>
                <a:spcPts val="400"/>
              </a:spcAft>
            </a:pPr>
            <a:r>
              <a:rPr b="0" sz="1600"/>
              <a:t>Every mode is </a:t>
            </a:r>
            <a:r>
              <a:rPr b="1" sz="1600"/>
              <a:t>classified automatically</a:t>
            </a:r>
            <a:r>
              <a:rPr b="0" sz="1600"/>
              <a:t>: displacement ratio at the hole patches (local at a hole), rigid-body energy fraction (global: weak-axis, strong-axis, torsion), flange-lip versus web-flange corner motion (distortional), else local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825625"/>
            <a:ext cx="5181600" cy="1828800"/>
          </a:xfrm>
          <a:prstGeom prst="rect">
            <a:avLst/>
          </a:prstGeom>
          <a:solidFill>
            <a:srgbClr val="EEF1F5"/>
          </a:solidFill>
          <a:ln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73152"/>
          <a:lstStyle/>
          <a:p>
            <a:pPr algn="ctr">
              <a:spcAft>
                <a:spcPts val="400"/>
              </a:spcAft>
            </a:pPr>
            <a:r>
              <a:rPr b="1" sz="1200">
                <a:solidFill>
                  <a:srgbClr val="0E2841"/>
                </a:solidFill>
              </a:rPr>
              <a:t>Lowest modes: K⁻¹(−Kg), one Cholesky factorization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Kfac = cholesky(Symmetric(K));  tmp = zeros(n)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op!(y, x) = (mul!(tmp, Kg, x); y .= Kfac \ -tmp)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μ, Φ = eigs(LinearMap(op!, n; ismutating = true);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            nev = 12, which = :LM)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Pcr = 1 ./ real.(μ)      # N, because P_ref = 1 N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3837305"/>
            <a:ext cx="5181600" cy="1828800"/>
          </a:xfrm>
          <a:prstGeom prst="rect">
            <a:avLst/>
          </a:prstGeom>
          <a:solidFill>
            <a:srgbClr val="EEF1F5"/>
          </a:solidFill>
          <a:ln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73152"/>
          <a:lstStyle/>
          <a:p>
            <a:pPr algn="ctr">
              <a:spcAft>
                <a:spcPts val="400"/>
              </a:spcAft>
            </a:pPr>
            <a:r>
              <a:rPr b="1" sz="1200">
                <a:solidFill>
                  <a:srgbClr val="0E2841"/>
                </a:solidFill>
              </a:rPr>
              <a:t>Shift-and-invert: modes nearest a target load σ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Mfac = ldlt(Symmetric(K + σ * Kg))      # indefinite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op!(y, x) = (mul!(tmp, Kg, x); y .= Mfac \ -tmp)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ν, V = eigs(LinearMap(op!, n; ismutating = true);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            nev = 40, which = :LM)</a:t>
            </a:r>
          </a:p>
          <a:p>
            <a:pPr>
              <a:spcAft>
                <a:spcPts val="0"/>
              </a:spcAft>
            </a:pPr>
            <a:r>
              <a:rPr b="0" sz="1100">
                <a:solidFill>
                  <a:srgbClr val="2B3648"/>
                </a:solidFill>
                <a:latin typeface="Consolas"/>
              </a:rPr>
              <a:t>Pcr = σ .+ 1 ./ real.(ν)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11DAE-CA84-A9DC-73DC-35055A63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October 6–7,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76784-F3C3-0D34-D4B3-03B01CA6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E2841"/>
                </a:solidFill>
              </a:rPr>
              <a:t>Finite strip and closed-form reference values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b="1" sz="1500"/>
              <a:t>CUFSM.jl, gross section:</a:t>
            </a:r>
            <a:r>
              <a:rPr b="0" sz="1500"/>
              <a:t> local minimum 16.14 kN at 70 mm, distortional 37.20 kN at 460 mm</a:t>
            </a:r>
          </a:p>
          <a:p>
            <a:pPr>
              <a:spcAft>
                <a:spcPts val="400"/>
              </a:spcAft>
            </a:pPr>
            <a:r>
              <a:rPr b="1" sz="1500"/>
              <a:t>Hole approximations</a:t>
            </a:r>
            <a:r>
              <a:rPr b="0" sz="1500"/>
              <a:t> (CeeSectionBuckling.jl, the RunToSolve SFIA evaluation procedure)</a:t>
            </a:r>
          </a:p>
          <a:p>
            <a:pPr lvl="1">
              <a:spcAft>
                <a:spcPts val="200"/>
              </a:spcAft>
            </a:pPr>
            <a:r>
              <a:rPr b="0" sz="1300"/>
              <a:t>net section through the hole: local 24.88 kN, above the gross value, so the unperforated web governs</a:t>
            </a:r>
          </a:p>
          <a:p>
            <a:pPr lvl="1">
              <a:spcAft>
                <a:spcPts val="200"/>
              </a:spcAft>
            </a:pPr>
            <a:r>
              <a:rPr b="0" sz="1300"/>
              <a:t>AISI S100 reduced web thickness tr = t(1 − Lh/Lcrd)^(1/3) = 0.807 mm: distortional 37.30 → 35.35 kN</a:t>
            </a:r>
          </a:p>
          <a:p>
            <a:pPr>
              <a:spcAft>
                <a:spcPts val="400"/>
              </a:spcAft>
            </a:pPr>
            <a:r>
              <a:rPr b="1" sz="1500"/>
              <a:t>Closed form, KL = 48 in:</a:t>
            </a:r>
            <a:r>
              <a:rPr b="0" sz="1500"/>
              <a:t> Pex = 314.6, Pey = 56.9, Pt = 40.0, flexural-torsional </a:t>
            </a:r>
            <a:r>
              <a:rPr b="1" sz="1500"/>
              <a:t>37.89 kN</a:t>
            </a:r>
            <a:r>
              <a:rPr b="0" sz="1500"/>
              <a:t>; weighted-average net properties 31.63 kN</a:t>
            </a:r>
          </a:p>
          <a:p>
            <a:pPr>
              <a:spcAft>
                <a:spcPts val="400"/>
              </a:spcAft>
            </a:pPr>
            <a:r>
              <a:rPr b="1" sz="1500"/>
              <a:t>Finite strip at one 1219 mm half-wave</a:t>
            </a:r>
            <a:r>
              <a:rPr b="0" sz="1500"/>
              <a:t> (section free to distort): 37.17 kN flexural-torsional, 49.58 kN weak-axis flexure</a:t>
            </a:r>
          </a:p>
        </p:txBody>
      </p:sp>
      <p:pic>
        <p:nvPicPr>
          <p:cNvPr id="5" name="Picture 4" descr="fig_signatur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141" y="1642745"/>
            <a:ext cx="4147718" cy="493776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11DAE-CA84-A9DC-73DC-35055A63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October 6–7,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76784-F3C3-0D34-D4B3-03B01CA6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E2841"/>
                </a:solidFill>
              </a:rPr>
              <a:t>Shell finite element buckling loads, kN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554480"/>
          <a:ext cx="1051559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1204912"/>
                <a:gridCol w="1204912"/>
                <a:gridCol w="1314450"/>
                <a:gridCol w="3286125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1" sz="1100"/>
                        <a:t>Buckling mode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/>
                        <a:t>5 mm mesh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/>
                        <a:t>2.5 mm mesh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/>
                        <a:t>5 mm, no holes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/>
                        <a:t>Finite strip / analytical</a:t>
                      </a:r>
                    </a:p>
                  </a:txBody>
                  <a:tcPr marT="27432" marB="27432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0" sz="1400"/>
                        <a:t>Local, lowest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/>
                        <a:t>15.95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/>
                        <a:t>16.00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/>
                        <a:t>15.79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/>
                        <a:t>16.14 (CUFSM gross)</a:t>
                      </a:r>
                    </a:p>
                  </a:txBody>
                  <a:tcPr marT="27432" marB="27432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0" sz="1400"/>
                        <a:t>Local at the holes (web strips)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/>
                        <a:t>20.45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/>
                        <a:t>20.56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/>
                        <a:t>–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/>
                        <a:t>24.88 (net section)</a:t>
                      </a:r>
                    </a:p>
                  </a:txBody>
                  <a:tcPr marT="27432" marB="27432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0" sz="1400"/>
                        <a:t>Distortional, 3 half-waves per segment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/>
                        <a:t>36.51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/>
                        <a:t>36.38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/>
                        <a:t>37.37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/>
                        <a:t>35.35 (reduced t), 37.30 (gross)</a:t>
                      </a:r>
                    </a:p>
                  </a:txBody>
                  <a:tcPr marT="27432" marB="27432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0" sz="1400"/>
                        <a:t>Distortional–hole interaction, 5 half-waves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/>
                        <a:t>32.63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/>
                        <a:t>32.33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/>
                        <a:t>–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/>
                        <a:t>–</a:t>
                      </a:r>
                    </a:p>
                  </a:txBody>
                  <a:tcPr marT="27432" marB="27432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0" sz="1400"/>
                        <a:t>Global, flexural-torsional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156082"/>
                          </a:solidFill>
                        </a:rPr>
                        <a:t>35.25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/>
                        <a:t>34.76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/>
                        <a:t>37.15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/>
                        <a:t>37.89 (closed form), 37.17 (CUFSM)</a:t>
                      </a:r>
                    </a:p>
                  </a:txBody>
                  <a:tcPr marT="27432" marB="27432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0" sz="1400"/>
                        <a:t>Global, weak-axis flexure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/>
                        <a:t>46.74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/>
                        <a:t>47.70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/>
                        <a:t>49.58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400"/>
                        <a:t>56.93 (Euler), 49.58 (CUFSM mode 2)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400">
                <a:solidFill>
                  <a:srgbClr val="4B5666"/>
                </a:solidFill>
              </a:rPr>
              <a:t>Halving the element length changes every load by less than two percent. The lowest mode is local; the governing global mode is flexural-torsional.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A16EB1-25B9-5DE5-A0CA-28C3A72C2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October 6–7,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9CCAC9-C194-3672-CFBF-AADCF3F0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E2841"/>
                </a:solidFill>
              </a:rPr>
              <a:t>Local modes</a:t>
            </a:r>
          </a:p>
        </p:txBody>
      </p:sp>
      <p:pic>
        <p:nvPicPr>
          <p:cNvPr id="3" name="Picture 2" descr="fig_mode_lo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181600" cy="35983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5469678"/>
            <a:ext cx="518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4B5666"/>
                </a:solidFill>
              </a:rPr>
              <a:t>Lowest local mode, 15.95 kN: the web buckles between the holes</a:t>
            </a:r>
          </a:p>
        </p:txBody>
      </p:sp>
      <p:pic>
        <p:nvPicPr>
          <p:cNvPr id="5" name="Picture 4" descr="fig_mode_local_h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5625"/>
            <a:ext cx="5181600" cy="35983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72200" y="5469678"/>
            <a:ext cx="518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4B5666"/>
                </a:solidFill>
              </a:rPr>
              <a:t>Lowest mode at a hole, 20.45 kN: the two web strips bow in opposite directions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200">
                <a:solidFill>
                  <a:srgbClr val="4B5666"/>
                </a:solidFill>
              </a:rPr>
              <a:t>5 mm mesh (top) and 2.5 mm mesh (bottom) in each figure; color is displacement magnitude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11DAE-CA84-A9DC-73DC-35055A63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October 6–7,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76784-F3C3-0D34-D4B3-03B01CA6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E2841"/>
                </a:solidFill>
              </a:rPr>
              <a:t>Distortional and global modes</a:t>
            </a:r>
          </a:p>
        </p:txBody>
      </p:sp>
      <p:pic>
        <p:nvPicPr>
          <p:cNvPr id="3" name="Picture 2" descr="fig_mode_distor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465" y="1371600"/>
            <a:ext cx="7098030" cy="2103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3520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4B5666"/>
                </a:solidFill>
              </a:rPr>
              <a:t>Lowest distortional mode, 36.51 kN, lower 48 in braced segment: three half-waves per braced segment, the brace plane is a node</a:t>
            </a:r>
          </a:p>
        </p:txBody>
      </p:sp>
      <p:pic>
        <p:nvPicPr>
          <p:cNvPr id="5" name="Picture 4" descr="fig_mode_global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931920"/>
            <a:ext cx="10058400" cy="195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593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4B5666"/>
                </a:solidFill>
              </a:rPr>
              <a:t>Lowest global mode, 35.25 kN, full 96 in member: lateral translation plus twist, one half-wave in each braced segment, the brace at midheight is a node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A16EB1-25B9-5DE5-A0CA-28C3A72C2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October 6–7,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9CCAC9-C194-3672-CFBF-AADCF3F0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E2841"/>
                </a:solidFill>
              </a:rPr>
              <a:t>Six minutes on a laptop for a quarter-million dofs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b="0" sz="1600"/>
              <a:t>Apple M3 Max laptop, sparse factorizations on 7 threads, less than 2 GB of memory</a:t>
            </a:r>
          </a:p>
          <a:p>
            <a:pPr>
              <a:spcAft>
                <a:spcPts val="400"/>
              </a:spcAft>
            </a:pPr>
            <a:r>
              <a:rPr b="0" sz="1600"/>
              <a:t>Each shift-and-invert window is one indefinite factorization and about 27 s; the sweep yields about 190 distinct modes between 16 and 65 kN</a:t>
            </a:r>
          </a:p>
          <a:p>
            <a:pPr>
              <a:spcAft>
                <a:spcPts val="400"/>
              </a:spcAft>
            </a:pPr>
            <a:r>
              <a:rPr b="0" sz="1600"/>
              <a:t>Julia compiles the packages on first use, roughly a minute per session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1825625"/>
          <a:ext cx="5181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036320"/>
                <a:gridCol w="103632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1" sz="1000"/>
                        <a:t>Step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 mm mesh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2.5 mm mesh</a:t>
                      </a:r>
                    </a:p>
                  </a:txBody>
                  <a:tcPr marT="27432" marB="27432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0" sz="1300"/>
                        <a:t>Degrees of freedom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00"/>
                        <a:t>247 998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00"/>
                        <a:t>509 286</a:t>
                      </a:r>
                    </a:p>
                  </a:txBody>
                  <a:tcPr marT="27432" marB="27432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0" sz="1300"/>
                        <a:t>Assemble elastic stiffness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00"/>
                        <a:t>6 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00"/>
                        <a:t>9 s</a:t>
                      </a:r>
                    </a:p>
                  </a:txBody>
                  <a:tcPr marT="27432" marB="27432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0" sz="1300"/>
                        <a:t>Static solve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00"/>
                        <a:t>3 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00"/>
                        <a:t>6 s</a:t>
                      </a:r>
                    </a:p>
                  </a:txBody>
                  <a:tcPr marT="27432" marB="27432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0" sz="1300"/>
                        <a:t>Assemble geometric stiffness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00"/>
                        <a:t>2 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00"/>
                        <a:t>3 s</a:t>
                      </a:r>
                    </a:p>
                  </a:txBody>
                  <a:tcPr marT="27432" marB="27432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0" sz="1300"/>
                        <a:t>Cholesky factorization of K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00"/>
                        <a:t>10 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00"/>
                        <a:t>20 s</a:t>
                      </a:r>
                    </a:p>
                  </a:txBody>
                  <a:tcPr marT="27432" marB="27432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0" sz="1300"/>
                        <a:t>12 lowest modes (ARPACK)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00"/>
                        <a:t>9 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00"/>
                        <a:t>18 s</a:t>
                      </a:r>
                    </a:p>
                  </a:txBody>
                  <a:tcPr marT="27432" marB="27432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0" sz="1300"/>
                        <a:t>13 shift-and-invert windows, 40 modes each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00"/>
                        <a:t>356 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00"/>
                        <a:t>903 s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11DAE-CA84-A9DC-73DC-35055A63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October 6–7,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76784-F3C3-0D34-D4B3-03B01CA6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E2841"/>
                </a:solidFill>
              </a:rPr>
              <a:t>Documentation and validation live on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b="0" sz="1700"/>
              <a:t>Each repository README documents the element mechanics, the calling sequence with Ferrite.jl, and the default parameters; docstrings cover the public functions</a:t>
            </a:r>
          </a:p>
          <a:p>
            <a:pPr>
              <a:spcAft>
                <a:spcPts val="400"/>
              </a:spcAft>
            </a:pPr>
            <a:r>
              <a:rPr b="0" sz="1700"/>
              <a:t>The </a:t>
            </a:r>
            <a:r>
              <a:rPr b="1" sz="1700"/>
              <a:t>test suites are the validation record</a:t>
            </a:r>
            <a:r>
              <a:rPr b="0" sz="1700"/>
              <a:t>. For the triangle:</a:t>
            </a:r>
          </a:p>
          <a:p>
            <a:pPr lvl="1">
              <a:spcAft>
                <a:spcPts val="200"/>
              </a:spcAft>
            </a:pPr>
            <a:r>
              <a:rPr b="0" sz="1400"/>
              <a:t>element symmetry, rigid body modes, thickness independence</a:t>
            </a:r>
          </a:p>
          <a:p>
            <a:pPr lvl="1">
              <a:spcAft>
                <a:spcPts val="200"/>
              </a:spcAft>
            </a:pPr>
            <a:r>
              <a:rPr b="0" sz="1400"/>
              <a:t>uniform compression reproducing PL/EA</a:t>
            </a:r>
          </a:p>
          <a:p>
            <a:pPr lvl="1">
              <a:spcAft>
                <a:spcPts val="200"/>
              </a:spcAft>
            </a:pPr>
            <a:r>
              <a:rPr b="0" sz="1400"/>
              <a:t>simply supported plate converging to k = 4.0, clamped plate to k ≈ 10.07</a:t>
            </a:r>
          </a:p>
          <a:p>
            <a:pPr lvl="1">
              <a:spcAft>
                <a:spcPts val="200"/>
              </a:spcAft>
            </a:pPr>
            <a:r>
              <a:rPr b="0" sz="1400"/>
              <a:t>buckling load invariant to the orientation of the plate in space</a:t>
            </a:r>
          </a:p>
          <a:p>
            <a:pPr lvl="1">
              <a:spcAft>
                <a:spcPts val="200"/>
              </a:spcAft>
            </a:pPr>
            <a:r>
              <a:rPr b="0" sz="1400"/>
              <a:t>torsion of flat and folded strips and of a rounded lipped channel reproducing the thin-walled torsion constant within a few percent</a:t>
            </a:r>
          </a:p>
          <a:p>
            <a:pPr>
              <a:spcAft>
                <a:spcPts val="400"/>
              </a:spcAft>
            </a:pPr>
            <a:r>
              <a:rPr b="0" sz="1700"/>
              <a:t>For the quadrilateral: element-by-element comparison with the MATLAB reference, plus the plate bending, membrane, and column buckling benchmarks of the earlier paper</a:t>
            </a:r>
          </a:p>
          <a:p>
            <a:pPr>
              <a:spcAft>
                <a:spcPts val="400"/>
              </a:spcAft>
            </a:pPr>
            <a:r>
              <a:rPr sz="1700">
                <a:latin typeface="Consolas"/>
              </a:rPr>
              <a:t>Pkg.test()</a:t>
            </a:r>
            <a:r>
              <a:rPr b="0" sz="1700"/>
              <a:t> on either package regenerates every number in this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52D08-6AAB-B37D-B3F2-C4A567DE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October 6–7,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AF7D3-2F37-B875-3792-6E81FD069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solidFill>
                  <a:srgbClr val="0E2841"/>
                </a:solidFill>
              </a:rPr>
              <a:t>Elastic buckling analysis of a cold-formed steel stud column with open-source shell finite element software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0" sz="2200">
                <a:solidFill>
                  <a:srgbClr val="0E2841"/>
                </a:solidFill>
              </a:rPr>
              <a:t>Cristopher D. Moen and Amoke Shabhari</a:t>
            </a:r>
          </a:p>
          <a:p>
            <a:r>
              <a:rPr b="0" sz="1800">
                <a:solidFill>
                  <a:srgbClr val="4B5666"/>
                </a:solidFill>
              </a:rPr>
              <a:t>RunToSolve LLC</a:t>
            </a:r>
          </a:p>
          <a:p>
            <a:r>
              <a:rPr b="0" sz="1400">
                <a:solidFill>
                  <a:srgbClr val="4B5666"/>
                </a:solidFill>
              </a:rPr>
              <a:t>Wei-Wen Yu International Specialty Conference on Cold-Formed Steel Structures, Madison, Wisconsin</a:t>
            </a:r>
          </a:p>
        </p:txBody>
      </p:sp>
      <p:pic>
        <p:nvPicPr>
          <p:cNvPr id="4" name="Picture 3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512064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900">
                <a:solidFill>
                  <a:srgbClr val="4B5666"/>
                </a:solidFill>
              </a:rPr>
              <a:t>runtosolve.github.io/ICCFSS2026_MoenShabhariStudElasticBuckling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887CD-A8EA-B243-A004-166ECEDEE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October 6–7,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Sabrina L Bradshaw</dc:creator>
  <cp:lastModifiedBy>Sabrina L Bradshaw</cp:lastModifiedBy>
  <cp:revision>10</cp:revision>
  <dcterms:created xsi:type="dcterms:W3CDTF">2026-09-15T17:16:37Z</dcterms:created>
  <dcterms:modified xsi:type="dcterms:W3CDTF">2026-09-15T18:54:17Z</dcterms:modified>
</cp:coreProperties>
</file>